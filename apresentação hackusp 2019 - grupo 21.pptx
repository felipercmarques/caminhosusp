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026"/>
    <a:srgbClr val="1292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49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879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665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49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76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02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85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93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2939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64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02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D3A53-0D08-49EC-9FEF-F1FA9CB01216}" type="datetimeFigureOut">
              <a:rPr lang="pt-BR" smtClean="0"/>
              <a:t>07/04/2019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B540A-BB0D-4EFC-A9DC-627D9CBF7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58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ppu.usp.br/ocorrencias-criminais-2015-2016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6600" dirty="0" smtClean="0">
                <a:solidFill>
                  <a:srgbClr val="1292A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HACK USP 2019</a:t>
            </a:r>
            <a:endParaRPr lang="pt-BR" sz="6600" dirty="0">
              <a:solidFill>
                <a:srgbClr val="1292A9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69425"/>
            <a:ext cx="10058400" cy="214179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963" y="5056529"/>
            <a:ext cx="2504049" cy="741433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963" y="5908431"/>
            <a:ext cx="2504049" cy="80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8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56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292A9"/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3105" y="2395470"/>
            <a:ext cx="10515600" cy="2202287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pt-BR" sz="4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Vocês já se perderam, tropeçaram ou se depararam com algo atrapalhando em algum caminho dentro da USP?</a:t>
            </a:r>
            <a:endParaRPr lang="pt-BR" sz="4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02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angulado 4"/>
          <p:cNvCxnSpPr/>
          <p:nvPr/>
        </p:nvCxnSpPr>
        <p:spPr>
          <a:xfrm rot="16200000" flipH="1">
            <a:off x="3376246" y="2180491"/>
            <a:ext cx="2504051" cy="2166429"/>
          </a:xfrm>
          <a:prstGeom prst="bentConnector3">
            <a:avLst>
              <a:gd name="adj1" fmla="val 994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de cantos arredondados 16"/>
          <p:cNvSpPr/>
          <p:nvPr/>
        </p:nvSpPr>
        <p:spPr>
          <a:xfrm>
            <a:off x="1069143" y="590843"/>
            <a:ext cx="4951827" cy="14771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4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Média de ingressantes anuais na Universidade de São Paulo é de 8.300</a:t>
            </a:r>
            <a:endParaRPr lang="pt-BR" sz="2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5718521" y="3798277"/>
            <a:ext cx="4937758" cy="163185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4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 média a USP tem 200 alunos deficientes físicos. (cadastrados no </a:t>
            </a:r>
            <a:r>
              <a:rPr lang="pt-BR" sz="2400" dirty="0" err="1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inclusup</a:t>
            </a:r>
            <a:r>
              <a:rPr lang="pt-BR" sz="24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pt-BR" sz="2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337625" y="5022166"/>
            <a:ext cx="2644726" cy="1280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accent4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 média no Brasil, 1,3% da população possui alguma deficiência física </a:t>
            </a:r>
          </a:p>
          <a:p>
            <a:pPr algn="ctr"/>
            <a:r>
              <a:rPr lang="pt-BR" sz="1400" dirty="0" smtClean="0">
                <a:solidFill>
                  <a:schemeClr val="accent4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*dados tirados do IBGE</a:t>
            </a:r>
            <a:endParaRPr lang="pt-BR" sz="1400" dirty="0">
              <a:solidFill>
                <a:schemeClr val="accent4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8637563" y="590843"/>
            <a:ext cx="2869809" cy="147710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1292A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alto número de pessoas usando o local pode ocasionar mais problemas na segurança dos campus e na mobilidade </a:t>
            </a:r>
            <a:endParaRPr lang="pt-BR" dirty="0">
              <a:solidFill>
                <a:srgbClr val="1292A9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80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292A9"/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3938954" y="506437"/>
            <a:ext cx="4346917" cy="1434904"/>
          </a:xfrm>
          <a:prstGeom prst="roundRect">
            <a:avLst/>
          </a:prstGeom>
          <a:noFill/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Principais problemas de mobilidade enfrentados nos campus de São Paulo</a:t>
            </a:r>
            <a:endParaRPr lang="pt-BR" sz="2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eta para baixo 5"/>
          <p:cNvSpPr/>
          <p:nvPr/>
        </p:nvSpPr>
        <p:spPr>
          <a:xfrm>
            <a:off x="5978769" y="2451051"/>
            <a:ext cx="270803" cy="1516037"/>
          </a:xfrm>
          <a:prstGeom prst="downArrow">
            <a:avLst/>
          </a:prstGeom>
          <a:solidFill>
            <a:srgbClr val="F7B026"/>
          </a:solidFill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 para a esquerda e para a direita 6"/>
          <p:cNvSpPr/>
          <p:nvPr/>
        </p:nvSpPr>
        <p:spPr>
          <a:xfrm>
            <a:off x="4628269" y="3624851"/>
            <a:ext cx="2968283" cy="342237"/>
          </a:xfrm>
          <a:prstGeom prst="leftRightArrow">
            <a:avLst/>
          </a:prstGeom>
          <a:solidFill>
            <a:srgbClr val="F7B026"/>
          </a:solidFill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de cantos arredondados 7"/>
          <p:cNvSpPr/>
          <p:nvPr/>
        </p:nvSpPr>
        <p:spPr>
          <a:xfrm>
            <a:off x="795174" y="3393830"/>
            <a:ext cx="3263703" cy="1473592"/>
          </a:xfrm>
          <a:prstGeom prst="roundRect">
            <a:avLst/>
          </a:prstGeom>
          <a:noFill/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Transporte interno motorizado ineficiente</a:t>
            </a:r>
            <a:endParaRPr lang="pt-BR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8000997" y="3393830"/>
            <a:ext cx="3263703" cy="1473592"/>
          </a:xfrm>
          <a:prstGeom prst="roundRect">
            <a:avLst/>
          </a:prstGeom>
          <a:noFill/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Muitos caminhos não mapeados e informais</a:t>
            </a:r>
            <a:endParaRPr lang="pt-BR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Seta para baixo 9"/>
          <p:cNvSpPr/>
          <p:nvPr/>
        </p:nvSpPr>
        <p:spPr>
          <a:xfrm>
            <a:off x="5870093" y="3854548"/>
            <a:ext cx="484632" cy="1012874"/>
          </a:xfrm>
          <a:prstGeom prst="downArrow">
            <a:avLst>
              <a:gd name="adj1" fmla="val 26778"/>
              <a:gd name="adj2" fmla="val 41292"/>
            </a:avLst>
          </a:prstGeom>
          <a:solidFill>
            <a:srgbClr val="F7B026"/>
          </a:solidFill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4480558" y="5199420"/>
            <a:ext cx="3263703" cy="1473592"/>
          </a:xfrm>
          <a:prstGeom prst="roundRect">
            <a:avLst/>
          </a:prstGeom>
          <a:noFill/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Caminhos irregulares, danificados ou obstruídos </a:t>
            </a:r>
          </a:p>
        </p:txBody>
      </p:sp>
    </p:spTree>
    <p:extLst>
      <p:ext uri="{BB962C8B-B14F-4D97-AF65-F5344CB8AC3E}">
        <p14:creationId xmlns:p14="http://schemas.microsoft.com/office/powerpoint/2010/main" val="244209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01" y="1634417"/>
            <a:ext cx="11217398" cy="4595884"/>
          </a:xfrm>
        </p:spPr>
      </p:pic>
      <p:sp>
        <p:nvSpPr>
          <p:cNvPr id="5" name="Retângulo de cantos arredondados 4"/>
          <p:cNvSpPr/>
          <p:nvPr/>
        </p:nvSpPr>
        <p:spPr>
          <a:xfrm>
            <a:off x="4712677" y="6344529"/>
            <a:ext cx="7076049" cy="4079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FFC000"/>
                </a:solidFill>
              </a:rPr>
              <a:t>Dados retirados do </a:t>
            </a:r>
            <a:r>
              <a:rPr lang="pt-BR" dirty="0" smtClean="0">
                <a:solidFill>
                  <a:srgbClr val="FFC000"/>
                </a:solidFill>
                <a:hlinkClick r:id="rId3"/>
              </a:rPr>
              <a:t>http://sppu.usp.br/ocorrencias-criminais-2015-2016</a:t>
            </a:r>
            <a:endParaRPr lang="pt-BR" dirty="0">
              <a:solidFill>
                <a:srgbClr val="FFC000"/>
              </a:solidFill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872197" y="407963"/>
            <a:ext cx="10339754" cy="8721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Devido  a grande área do campus e por ser um espaço publico, há uma ocorrência de crimes que é controlada pela segurança do local. Os dados são coletados a partir de relatos feitos pelos próprios frequentadores.</a:t>
            </a:r>
            <a:endParaRPr lang="pt-BR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487301" y="6344528"/>
            <a:ext cx="3986225" cy="407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F7B026"/>
                </a:solidFill>
              </a:rPr>
              <a:t>* Dados referentes ao campus Butantã</a:t>
            </a:r>
            <a:endParaRPr lang="pt-BR" dirty="0">
              <a:solidFill>
                <a:srgbClr val="F7B0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0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168810" y="1280160"/>
            <a:ext cx="2655278" cy="1294228"/>
          </a:xfrm>
          <a:prstGeom prst="roundRect">
            <a:avLst/>
          </a:prstGeom>
          <a:noFill/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Maior utilização de mobilidade não ativa </a:t>
            </a:r>
            <a:endParaRPr lang="pt-BR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9406597" y="1252022"/>
            <a:ext cx="2655278" cy="1294228"/>
          </a:xfrm>
          <a:prstGeom prst="roundRect">
            <a:avLst/>
          </a:prstGeom>
          <a:noFill/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</a:t>
            </a:r>
            <a:r>
              <a:rPr lang="pt-BR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ompartilhamento de eventualidades encontradas nos campus com usuários</a:t>
            </a:r>
            <a:endParaRPr lang="pt-BR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tângulo de cantos arredondados 6"/>
          <p:cNvSpPr/>
          <p:nvPr/>
        </p:nvSpPr>
        <p:spPr>
          <a:xfrm>
            <a:off x="3183987" y="1927273"/>
            <a:ext cx="2655278" cy="1294229"/>
          </a:xfrm>
          <a:prstGeom prst="roundRect">
            <a:avLst/>
          </a:prstGeom>
          <a:noFill/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Mapeamento colaborativo por coleta de dados para adição de novos caminhos </a:t>
            </a:r>
            <a:endParaRPr lang="pt-BR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Retângulo de cantos arredondados 7"/>
          <p:cNvSpPr/>
          <p:nvPr/>
        </p:nvSpPr>
        <p:spPr>
          <a:xfrm>
            <a:off x="4224997" y="239151"/>
            <a:ext cx="3488787" cy="10410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>
                <a:solidFill>
                  <a:srgbClr val="F7B0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Possíveis soluções para os problemas apresentados</a:t>
            </a:r>
            <a:endParaRPr lang="pt-BR" sz="2000" dirty="0">
              <a:solidFill>
                <a:srgbClr val="F7B02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7" name="Conector reto 16"/>
          <p:cNvCxnSpPr/>
          <p:nvPr/>
        </p:nvCxnSpPr>
        <p:spPr>
          <a:xfrm>
            <a:off x="1496449" y="3924886"/>
            <a:ext cx="9237787" cy="0"/>
          </a:xfrm>
          <a:prstGeom prst="line">
            <a:avLst/>
          </a:prstGeom>
          <a:ln>
            <a:solidFill>
              <a:srgbClr val="F7B0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H="1">
            <a:off x="5969389" y="3924886"/>
            <a:ext cx="1" cy="928468"/>
          </a:xfrm>
          <a:prstGeom prst="straightConnector1">
            <a:avLst/>
          </a:prstGeom>
          <a:ln>
            <a:solidFill>
              <a:srgbClr val="F7B0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ângulo de cantos arredondados 36"/>
          <p:cNvSpPr/>
          <p:nvPr/>
        </p:nvSpPr>
        <p:spPr>
          <a:xfrm>
            <a:off x="4224996" y="5078437"/>
            <a:ext cx="3488787" cy="1434905"/>
          </a:xfrm>
          <a:prstGeom prst="roundRect">
            <a:avLst/>
          </a:prstGeom>
          <a:noFill/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Aplicativo unificado</a:t>
            </a:r>
            <a:endParaRPr lang="pt-BR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Retângulo de cantos arredondados 48"/>
          <p:cNvSpPr/>
          <p:nvPr/>
        </p:nvSpPr>
        <p:spPr>
          <a:xfrm>
            <a:off x="6386144" y="1927273"/>
            <a:ext cx="2655278" cy="1294228"/>
          </a:xfrm>
          <a:prstGeom prst="roundRect">
            <a:avLst/>
          </a:prstGeom>
          <a:noFill/>
          <a:ln>
            <a:solidFill>
              <a:srgbClr val="F7B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Informações sobre segurança de áreas do campus</a:t>
            </a:r>
            <a:endParaRPr lang="pt-BR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1" name="Conector reto 50"/>
          <p:cNvCxnSpPr>
            <a:stCxn id="4" idx="2"/>
          </p:cNvCxnSpPr>
          <p:nvPr/>
        </p:nvCxnSpPr>
        <p:spPr>
          <a:xfrm>
            <a:off x="1496449" y="2574388"/>
            <a:ext cx="0" cy="1350498"/>
          </a:xfrm>
          <a:prstGeom prst="line">
            <a:avLst/>
          </a:prstGeom>
          <a:ln>
            <a:solidFill>
              <a:srgbClr val="F7B0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/>
          <p:nvPr/>
        </p:nvCxnSpPr>
        <p:spPr>
          <a:xfrm>
            <a:off x="10734236" y="2543907"/>
            <a:ext cx="0" cy="1380979"/>
          </a:xfrm>
          <a:prstGeom prst="line">
            <a:avLst/>
          </a:prstGeom>
          <a:ln>
            <a:solidFill>
              <a:srgbClr val="F7B0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/>
          <p:cNvCxnSpPr/>
          <p:nvPr/>
        </p:nvCxnSpPr>
        <p:spPr>
          <a:xfrm>
            <a:off x="4511626" y="3221501"/>
            <a:ext cx="0" cy="703385"/>
          </a:xfrm>
          <a:prstGeom prst="line">
            <a:avLst/>
          </a:prstGeom>
          <a:ln>
            <a:solidFill>
              <a:srgbClr val="F7B0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/>
          <p:nvPr/>
        </p:nvCxnSpPr>
        <p:spPr>
          <a:xfrm>
            <a:off x="7702644" y="3221501"/>
            <a:ext cx="11139" cy="703385"/>
          </a:xfrm>
          <a:prstGeom prst="line">
            <a:avLst/>
          </a:prstGeom>
          <a:ln>
            <a:solidFill>
              <a:srgbClr val="F7B0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62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722" y="2817877"/>
            <a:ext cx="5838278" cy="3274232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940"/>
            <a:ext cx="5640945" cy="3139849"/>
          </a:xfrm>
          <a:prstGeom prst="rect">
            <a:avLst/>
          </a:prstGeom>
        </p:spPr>
      </p:pic>
      <p:sp>
        <p:nvSpPr>
          <p:cNvPr id="12" name="Retângulo 11"/>
          <p:cNvSpPr/>
          <p:nvPr/>
        </p:nvSpPr>
        <p:spPr>
          <a:xfrm>
            <a:off x="6027313" y="412124"/>
            <a:ext cx="5125791" cy="1571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Uma pesquisa no </a:t>
            </a:r>
            <a:r>
              <a:rPr lang="pt-BR" dirty="0" err="1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forms</a:t>
            </a:r>
            <a:r>
              <a:rPr lang="pt-BR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foi realizada em um período durante o </a:t>
            </a:r>
            <a:r>
              <a:rPr lang="pt-BR" dirty="0" err="1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Hack</a:t>
            </a:r>
            <a:r>
              <a:rPr lang="pt-BR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USP para analisarmos se os usuários contribuiriam e utilizariam o aplicativo</a:t>
            </a:r>
            <a:endParaRPr lang="pt-BR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618186" y="4353060"/>
            <a:ext cx="4108360" cy="1352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Observando os dados coletados de 111 pesquisas, podemos concluir que conseguiríamos receber os dados dos usuários e que os mesmo utilizariam os dados repassados no aplicativo.</a:t>
            </a:r>
            <a:endParaRPr lang="pt-BR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275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254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leticia proença</dc:creator>
  <cp:lastModifiedBy>leticia proença</cp:lastModifiedBy>
  <cp:revision>17</cp:revision>
  <dcterms:created xsi:type="dcterms:W3CDTF">2019-04-07T05:11:56Z</dcterms:created>
  <dcterms:modified xsi:type="dcterms:W3CDTF">2019-04-07T09:13:19Z</dcterms:modified>
</cp:coreProperties>
</file>